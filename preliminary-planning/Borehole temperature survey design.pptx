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3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3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jkingslake.github.io/PHIRE/borehole-heat-diffusion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PHIRE · HENRY ICE RISE · DRAFT FOR COMMENT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19721"/>
            <a:ext cx="981075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48"/>
              </a:lnSpc>
              <a:buNone/>
            </a:pPr>
            <a:r>
              <a:rPr lang="en-US" sz="56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long, and how often, to measure borehole temperature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377879"/>
            <a:ext cx="850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design for recovering the undisturbed ice temperature after drilling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Two design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2136279"/>
            <a:ext cx="5175250" cy="2516981"/>
          </a:xfrm>
          <a:prstGeom prst="roundRect">
            <a:avLst>
              <a:gd name="adj" fmla="val 290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2444254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3950" y="2809974"/>
            <a:ext cx="46960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 return visit, or two?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3950" y="3267174"/>
            <a:ext cx="4696079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reading a year after drilling close enough to the undisturbed ice temperature, or do we need to go back after two years?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136279"/>
            <a:ext cx="5175250" cy="2516981"/>
          </a:xfrm>
          <a:prstGeom prst="roundRect">
            <a:avLst>
              <a:gd name="adj" fmla="val 290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8750" y="2444254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8750" y="2809974"/>
            <a:ext cx="469607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Near-continuous logging, or a few readings?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08750" y="3571974"/>
            <a:ext cx="4696079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is possible with the right kit. The alternative is a few readings within weeks of installing the instrument, then one a year later.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5529659"/>
            <a:ext cx="85026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like from you: whether the reasoning holds, what the model is missing, and which design you would choose.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measurement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2190254"/>
            <a:ext cx="3380284" cy="2409031"/>
          </a:xfrm>
          <a:prstGeom prst="roundRect">
            <a:avLst>
              <a:gd name="adj" fmla="val 303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2498229"/>
            <a:ext cx="28472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Drilling warms the 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3950" y="3260229"/>
            <a:ext cx="2847264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hole holds its wall at 0 °C for somewhere between a day and a week. That heat spreads into the ice around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2190254"/>
            <a:ext cx="3380333" cy="2409031"/>
          </a:xfrm>
          <a:prstGeom prst="roundRect">
            <a:avLst>
              <a:gd name="adj" fmla="val 303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3784" y="2498229"/>
            <a:ext cx="284731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We can only measure in the hole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13784" y="3260229"/>
            <a:ext cx="2847315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 sensors in the surrounding ice. The temperature in the borehole itself is the only record we get.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92" y="2190254"/>
            <a:ext cx="3380333" cy="2409031"/>
          </a:xfrm>
          <a:prstGeom prst="roundRect">
            <a:avLst>
              <a:gd name="adj" fmla="val 303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3667" y="2498229"/>
            <a:ext cx="284731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warmth fades slowly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03667" y="3260229"/>
            <a:ext cx="2847315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borehole cools back towards the temperature the ice had before drilling, over years rather than weeks.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5529659"/>
            <a:ext cx="85026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question is how late, and how often, we must read the borehole temperature to recover that undisturbed value.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Model of the recovery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30"/>
            <a:ext cx="6828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conduction outward from the hole, in one dimension (radius), solved numerically.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97671"/>
          <a:ext cx="6616700" cy="1930053"/>
        </p:xfrm>
        <a:graphic>
          <a:graphicData uri="http://schemas.openxmlformats.org/drawingml/2006/table">
            <a:tbl>
              <a:tblPr/>
              <a:tblGrid>
                <a:gridCol w="2514346"/>
                <a:gridCol w="410235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 before drilling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 °C everywhere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Hole wall during drilling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held at 0 °C for 1 day or for 7 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Hole wall afterwards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heat flow; temperature free to relax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Hole radius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cm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Borehole reading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temperature at the hole wall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950200" y="1615430"/>
            <a:ext cx="353187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under 1 mK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950200" y="2138660"/>
            <a:ext cx="353187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from the exact solution for a cylinder held at a fixed temperature (Carslaw and Jaeger)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0200" y="3267571"/>
            <a:ext cx="353187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×5 at −25 °C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950200" y="3790801"/>
            <a:ext cx="353187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error here scales with how far the ice is below 0 °C, so colder ice gives proportionally larger errors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Size of the disturbance</a:t>
            </a:r>
            <a:endParaRPr lang="en-US" sz="3200" dirty="0"/>
          </a:p>
        </p:txBody>
      </p:sp>
      <p:pic>
        <p:nvPicPr>
          <p:cNvPr id="3" name="Image 0" descr="Line chart on log axes of borehole temperature above the undisturbed value against time since drilling ended, for 1 day and 7 days with the wall at 0 °C. After 7 days at 0 °C it is 0.25 K at three weeks, 17 mK at one year and 9 mK at two years. After 1 day at 0 °C it is 0.06 K, 4 mK and 2 mK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64630"/>
            <a:ext cx="6604000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23200" y="1771749"/>
            <a:ext cx="366268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Borehole temperature above the undisturbed value. Each range runs from 1 day to 7 days with the wall at 0 °C.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23200" y="2773660"/>
            <a:ext cx="366268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0.06–0.25 K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823200" y="3246090"/>
            <a:ext cx="36626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weeks after drilling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23200" y="3732461"/>
            <a:ext cx="366268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4–17 mK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823200" y="4204891"/>
            <a:ext cx="36626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 after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23200" y="4691261"/>
            <a:ext cx="366268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2–9 mK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823200" y="5163691"/>
            <a:ext cx="36626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years after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 for ice at −5 °C and a hole radius of 5 cm.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Extrapolation to the undisturbed temperature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017564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after drilling, the borehole temperature T follows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710904"/>
            <a:ext cx="41859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 = T0 + Q / (4πk 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3193504"/>
            <a:ext cx="418592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plot against 1/t is a straight line that points at the undisturbed temperature T0 (Humphrey and Echelmeyer, 1990).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144615"/>
            <a:ext cx="4185920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only holds once t is several times the heating duration s. A line fitted to readings taken around time t still leaves about s / (s + 2t) of the disturbance.</a:t>
            </a:r>
            <a:endParaRPr lang="en-US" sz="1400" dirty="0"/>
          </a:p>
        </p:txBody>
      </p:sp>
      <p:pic>
        <p:nvPicPr>
          <p:cNvPr id="7" name="Image 0" descr="Borehole temperature plotted against one over days since drilling ended, for 7 days at 0 °C. A straight-line fit to daily readings on days 1 to 21 reaches a value 0.29 K above the undisturbed temperature of −5 °C. A line through the day 21 reading and the one-year reading reaches a value 2.6 mK above i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1564630"/>
            <a:ext cx="6096000" cy="406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7 days at 0 °C, ice at −5 °C. Readings are model output with no measurement noise.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Question 1: one year or two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0"/>
            <a:ext cx="113792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in the estimated undisturbed temperature, in millikelvin. In each cell the first figure is for 1 day at 0 °C and the second for 7 days.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38300"/>
          <a:ext cx="10553700" cy="2676723"/>
        </p:xfrm>
        <a:graphic>
          <a:graphicData uri="http://schemas.openxmlformats.org/drawingml/2006/table">
            <a:tbl>
              <a:tblPr/>
              <a:tblGrid>
                <a:gridCol w="5276850"/>
                <a:gridCol w="2638425"/>
                <a:gridCol w="2638425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goes into the estimate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the year-1 visit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Adding a year-2 visit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reading, taken at face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 / 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 / 8.6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Year-1 and year-2 readings joined by a 1/t line (reading noise ×2.2)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both visits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Readings on days 7, 14 and 21 plus the visit readings, fitted with a free time shift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logging, best choice of days, including 1 mK of reading noise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/ 0.2 to 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0.1 to 0.2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69024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visit halves the error of a face-value reading. Once first-year readings are extrapolated, it adds little.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 for ice at −5 °C and a hole radius of 5 cm. The free time shift fits T = T0 + A / (t + t0).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Question 2: a few readings or a logger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63030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error in millikelvin: 1 day / 7 days at 0 °C. Reading days are counted from the end of drilling.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36700"/>
          <a:ext cx="10553700" cy="2950964"/>
        </p:xfrm>
        <a:graphic>
          <a:graphicData uri="http://schemas.openxmlformats.org/drawingml/2006/table">
            <a:tbl>
              <a:tblPr/>
              <a:tblGrid>
                <a:gridCol w="4854702"/>
                <a:gridCol w="2532888"/>
                <a:gridCol w="1583055"/>
                <a:gridCol w="1583055"/>
              </a:tblGrid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Readings and 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error (mK)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noise passed 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heating duration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reading at 1 year, taken at face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 / 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7, 14, 21 and 1 year: plain 1/t 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 / 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×0.8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21 and 1 year: 1/t 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/ 2.6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21 and 1 year: ln(1 + s/t) 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7, 14, 21 and 1 year: free time shift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logging for a year: best days and 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0.1 / 0.1–0.4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×0.1 to ×0.3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090864"/>
            <a:ext cx="1088339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early readings only in week one, the 7-day errors grow to 5.7 mK (1/t line) and 2.6 mK (time shift). A twofold error in the heating duration s moves the ln line by about 1.5 mK.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at −5 °C, hole radius 5 cm. Reading noise passed on: the share of one reading's random error that reaches the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Trade-offs between the two designs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5"/>
            <a:ext cx="5175250" cy="3182342"/>
          </a:xfrm>
          <a:prstGeom prst="roundRect">
            <a:avLst>
              <a:gd name="adj" fmla="val 2295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875780"/>
            <a:ext cx="46960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few readings, then one at a year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3950" y="2332980"/>
            <a:ext cx="4696079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error of a few millikelvin or less, provided the last early reading comes about three heating durations after drilling and the early readings do not dominate the fit.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3950" y="3258691"/>
            <a:ext cx="469607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late reading passes its full noise, and any sensor drift, straight into the answer.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950" y="3926632"/>
            <a:ext cx="469607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the data shows whether the cooling followed the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567805"/>
            <a:ext cx="5175250" cy="3182342"/>
          </a:xfrm>
          <a:prstGeom prst="roundRect">
            <a:avLst>
              <a:gd name="adj" fmla="val 2295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0" y="1875780"/>
            <a:ext cx="46960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Near-continuous logging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08750" y="2332980"/>
            <a:ext cx="469607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method error, with the freedom to choose afterwards which readings to fit.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08750" y="3000921"/>
            <a:ext cx="469607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readings average random noise down about tenfold. Sensor drift is not averaged away.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08750" y="3668861"/>
            <a:ext cx="469607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shows the shape of the cooling, so the model and the time shift can be checked against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606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SAYS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28020"/>
            <a:ext cx="9810750" cy="189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 year is long enough in the model. What matters more is having earlier readings to extrapolate from, and not letting the earliest ones dominate the fit.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Limits of the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5"/>
            <a:ext cx="5175250" cy="1694061"/>
          </a:xfrm>
          <a:prstGeom prst="roundRect">
            <a:avLst>
              <a:gd name="adj" fmla="val 431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498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Refreezing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2231380"/>
            <a:ext cx="4800727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has no latent heat. A water-filled hole stays at 0 °C until it refreezes, so the true heating duration is longer than the drilling time and not well known.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05"/>
            <a:ext cx="5175250" cy="1694061"/>
          </a:xfrm>
          <a:prstGeom prst="roundRect">
            <a:avLst>
              <a:gd name="adj" fmla="val 431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2498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Sensors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7950" y="2231380"/>
            <a:ext cx="4800727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noise is treated as random and independent. A constant offset, or a drift over the year, passes straight into the answer in every design.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3471416"/>
            <a:ext cx="5175250" cy="1694061"/>
          </a:xfrm>
          <a:prstGeom prst="roundRect">
            <a:avLst>
              <a:gd name="adj" fmla="val 431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72859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Geometry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3150" y="4134991"/>
            <a:ext cx="4800727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flows outward only. There is no vertical temperature gradient, no ice flow, and no change in the true ice temperature during the survey.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0775" y="3471416"/>
            <a:ext cx="5175250" cy="1694061"/>
          </a:xfrm>
          <a:prstGeom prst="roundRect">
            <a:avLst>
              <a:gd name="adj" fmla="val 4311"/>
            </a:avLst>
          </a:prstGeom>
          <a:solidFill>
            <a:srgbClr val="FCFBF7"/>
          </a:solidFill>
          <a:ln w="6350">
            <a:solidFill>
              <a:srgbClr val="D5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72859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Colder 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7950" y="4134991"/>
            <a:ext cx="4800727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for ice at −5 °C. At −25 °C every error is five times larger: a year-one reading would be 18 to 85 mK too warm.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Questions for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66230"/>
            <a:ext cx="40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1666230"/>
            <a:ext cx="10307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Is holding the hole wall at 0 °C for a set time a fair stand-in for drilling and refreezing? What duration would you use?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60603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606030"/>
            <a:ext cx="103078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stable should we expect the sensors to be over one to two years?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321563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215630"/>
            <a:ext cx="103078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Is fitting a free time shift standard practice, and are there pitfalls we have missed?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" y="382523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5E8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825230"/>
            <a:ext cx="103078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Would you still plan a visit at two years, and why?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3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30"/>
            <a:ext cx="1088339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checks and figures: the notebook </a:t>
            </a:r>
            <a:r>
              <a:rPr lang="en-US" sz="1400" u="sng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Radial heat diffusion around a borehole</a:t>
            </a: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PHIRE site (borehole-heat-diffusion.ipynb in github.com/jkingslake/PHIRE). The comparison of designs on the two question slides is in its section 11.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334171"/>
            <a:ext cx="1088339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Humphrey, N. and Echelmeyer, K. (1990). Hot-water drilling and bore-hole closure in cold ice. Journal of Glaciology 36(124), 287–298. The 1/t relation is used as quoted by McDowell et al. (2021), The Cryosphere 15, 897–907, supplement.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052911"/>
            <a:ext cx="1088339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Lachenbruch, A. H. and Brewer, M. C. (1959). Dissipation of the temperature effect of drilling a well in Arctic Alaska. U.S. Geological Survey Bulletin 1083-C. Source of the ln(1 + s/t) 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771652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Carslaw, H. S. and Jaeger, J. C. (1959). Conduction of Heat in Solids, second edition. Exact solution used to check the model.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rehole temperature survey design">
  <a:themeElements>
    <a:clrScheme name="Borehole temperature survey design">
      <a:dk1>
        <a:srgbClr val="12232E"/>
      </a:dk1>
      <a:lt1>
        <a:srgbClr val="F6F4EE"/>
      </a:lt1>
      <a:dk2>
        <a:srgbClr val="4B575E"/>
      </a:dk2>
      <a:lt2>
        <a:srgbClr val="DFDFDB"/>
      </a:lt2>
      <a:accent1>
        <a:srgbClr val="1B5E8C"/>
      </a:accent1>
      <a:accent2>
        <a:srgbClr val="8FB8D4"/>
      </a:accent2>
      <a:accent3>
        <a:srgbClr val="3D4B55"/>
      </a:accent3>
      <a:accent4>
        <a:srgbClr val="5A666F"/>
      </a:accent4>
      <a:accent5>
        <a:srgbClr val="C9D5DC"/>
      </a:accent5>
      <a:accent6>
        <a:srgbClr val="C9DDEB"/>
      </a:accent6>
      <a:hlink>
        <a:srgbClr val="0563C1"/>
      </a:hlink>
      <a:folHlink>
        <a:srgbClr val="954F72"/>
      </a:folHlink>
    </a:clrScheme>
    <a:fontScheme name="Borehole temperature survey desig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Borehole temperature survey design</dc:title>
  <dc:subject/>
  <dc:creator/>
  <cp:lastModifiedBy/>
  <cp:revision>1</cp:revision>
  <dcterms:created xsi:type="dcterms:W3CDTF">2026-10-12T16:02:10Z</dcterms:created>
  <dcterms:modified xsi:type="dcterms:W3CDTF">2026-10-12T16:02:10Z</dcterms:modified>
</cp:coreProperties>
</file>